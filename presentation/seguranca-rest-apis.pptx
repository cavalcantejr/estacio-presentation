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PALESTRA TÉCNICA (20 MINUTOS)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55448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de Segurança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REST APIs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731520" y="32918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Vulnerabilidades em JWT, Quebra de Permissões Multi-usuário (BOLA &amp; BFLA) e Demonstração Prática ao Vivo em um E-commerce.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4389120"/>
            <a:ext cx="3291840" cy="1645920"/>
          </a:xfrm>
          <a:prstGeom prst="rect">
            <a:avLst/>
          </a:prstGeom>
          <a:solidFill>
            <a:srgbClr val="161E31"/>
          </a:solidFill>
          <a:ln w="12700">
            <a:solidFill>
              <a:srgbClr val="2A364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45720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</a:rPr>
              <a:t>🔑 Autenticação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502920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O que é e o que NÃO é um JWT? Mitos comuns do mercado sobre tokens.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4389120"/>
            <a:ext cx="3291840" cy="1645920"/>
          </a:xfrm>
          <a:prstGeom prst="rect">
            <a:avLst/>
          </a:prstGeom>
          <a:solidFill>
            <a:srgbClr val="161E31"/>
          </a:solidFill>
          <a:ln w="12700">
            <a:solidFill>
              <a:srgbClr val="2A364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80560" y="45720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</a:rPr>
              <a:t>🎯 BFLA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480560" y="502920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Broken Function Level Auth: Usuário comum agindo como Admin ou Vendedor.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863840" y="4389120"/>
            <a:ext cx="3291840" cy="1645920"/>
          </a:xfrm>
          <a:prstGeom prst="rect">
            <a:avLst/>
          </a:prstGeom>
          <a:solidFill>
            <a:srgbClr val="161E31"/>
          </a:solidFill>
          <a:ln w="12700">
            <a:solidFill>
              <a:srgbClr val="2A364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0" y="45720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</a:rPr>
              <a:t>💥 BOLA / IDOR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046720" y="502920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Broken Object Level Auth: Alterando preços e produtos de lojas concorrentes.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 CENÁRIO REAL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Marketplace Multi-vendedor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Várias lojas e clientes operando na mesma API. O que pode dar errado?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🛡️ Palestra de Segurança em TI | OWASP API Top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2011680"/>
            <a:ext cx="3291840" cy="2011680"/>
          </a:xfrm>
          <a:prstGeom prst="rect">
            <a:avLst/>
          </a:prstGeom>
          <a:solidFill>
            <a:srgbClr val="161E31"/>
          </a:solidFill>
          <a:ln w="12700">
            <a:solidFill>
              <a:srgbClr val="2A36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19456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👤 Alice (Cliente)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560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ROLE: CUSTOMER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14400" y="292608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Deveria apenas navegar, adicionar ao carrinho e comprar produtos.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97680" y="2011680"/>
            <a:ext cx="3291840" cy="2011680"/>
          </a:xfrm>
          <a:prstGeom prst="rect">
            <a:avLst/>
          </a:prstGeom>
          <a:solidFill>
            <a:srgbClr val="161E31"/>
          </a:solidFill>
          <a:ln w="12700">
            <a:solidFill>
              <a:srgbClr val="2A364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0560" y="219456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🏪 João &amp; Maria (Lojas)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480560" y="2560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ROLE: SELLER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80560" y="292608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Cada um possui seus próprios produtos. Não deveriam tocar no catálogo do concorrente.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863840" y="2011680"/>
            <a:ext cx="3291840" cy="2011680"/>
          </a:xfrm>
          <a:prstGeom prst="rect">
            <a:avLst/>
          </a:prstGeom>
          <a:solidFill>
            <a:srgbClr val="161E31"/>
          </a:solidFill>
          <a:ln w="12700">
            <a:solidFill>
              <a:srgbClr val="2A364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0" y="219456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👑 Carlos (Admin)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046720" y="2560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ROLE: ADMIN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046720" y="292608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Acesso exclusivo a relatórios financeiros e governança da plataforma.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4389120"/>
            <a:ext cx="10515600" cy="1645920"/>
          </a:xfrm>
          <a:prstGeom prst="rect">
            <a:avLst/>
          </a:prstGeom>
          <a:solidFill>
            <a:srgbClr val="2D1522"/>
          </a:solidFill>
          <a:ln w="19050">
            <a:solidFill>
              <a:srgbClr val="F43F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0" y="4572000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3F5E"/>
                </a:solidFill>
              </a:rPr>
              <a:t>⚠️ A Grande Pergunta: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005840" y="4937760"/>
            <a:ext cx="9966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Se um usuário possui um token JWT válido, a API pode confiar que ele pode realizar qualquer ação?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Resposta curta: NUNCA! Autenticação (quem você é) ≠ Autorização (o que você pode fazer).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DESMISTIFICANDO O TOKEN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Anatomia do JWT (JSON Web Token)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 NÃO É CRIPTOGRAFIA! É apenas Base64URL assinado.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🛡️ Palestra de Segurança em TI | OWASP API Top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2011680"/>
            <a:ext cx="10515600" cy="1280160"/>
          </a:xfrm>
          <a:prstGeom prst="rect">
            <a:avLst/>
          </a:prstGeom>
          <a:solidFill>
            <a:srgbClr val="06090E"/>
          </a:solidFill>
          <a:ln w="12700">
            <a:solidFill>
              <a:srgbClr val="2A36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194560"/>
            <a:ext cx="9966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3F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eyJhbGciOiJIUzI1NiIsInR5cCI6IkpXVCJ9</a:t>
            </a:r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eyJpZCI6MSwidXNlciI6ImFsaWNlIiwicm9sZSI6IkNVU1RPTUVSIn0</a:t>
            </a:r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SflKxwRJSMeKKF2QT4fwpMeJf36POk6yJV_adQssw5c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3657600"/>
            <a:ext cx="3291840" cy="2377440"/>
          </a:xfrm>
          <a:prstGeom prst="rect">
            <a:avLst/>
          </a:prstGeom>
          <a:solidFill>
            <a:srgbClr val="161E31"/>
          </a:solidFill>
          <a:ln w="12700">
            <a:solidFill>
              <a:srgbClr val="2A364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8404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3F5E"/>
                </a:solidFill>
              </a:rPr>
              <a:t>🔴 Header (Vermelho)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4297680"/>
            <a:ext cx="29260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Metadados: tipo do token e algoritmo de assinatura (ex: HS256, RS256).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97680" y="3657600"/>
            <a:ext cx="3291840" cy="2377440"/>
          </a:xfrm>
          <a:prstGeom prst="rect">
            <a:avLst/>
          </a:prstGeom>
          <a:solidFill>
            <a:srgbClr val="161E31"/>
          </a:solidFill>
          <a:ln w="12700">
            <a:solidFill>
              <a:srgbClr val="2A364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38404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C4899"/>
                </a:solidFill>
              </a:rPr>
              <a:t>🟣 Payload (Rosa)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480560" y="4297680"/>
            <a:ext cx="29260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Claims com dados do usuário (id, role, exp). Legível por qualquer interceptador no DevTools!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863840" y="3657600"/>
            <a:ext cx="3291840" cy="2377440"/>
          </a:xfrm>
          <a:prstGeom prst="rect">
            <a:avLst/>
          </a:prstGeom>
          <a:solidFill>
            <a:srgbClr val="161E31"/>
          </a:solidFill>
          <a:ln w="12700">
            <a:solidFill>
              <a:srgbClr val="2A364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0" y="38404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</a:rPr>
              <a:t>🔵 Assinatura (Azul)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046720" y="4297680"/>
            <a:ext cx="29260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Garante integridade. Se a chave secreta for fraca ('secret123'), qualquer um forja privilégio de ADMIN!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OWASP API5:2023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BFLA: Broken Function Level Authorization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rota checa se o usuário está logado, mas esquece de checar seu papel de permissão (Role).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🛡️ Palestra de Segurança em TI | OWASP API Top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2011680"/>
            <a:ext cx="5120640" cy="4023360"/>
          </a:xfrm>
          <a:prstGeom prst="rect">
            <a:avLst/>
          </a:prstGeom>
          <a:solidFill>
            <a:srgbClr val="2D1522"/>
          </a:solidFill>
          <a:ln w="19050">
            <a:solidFill>
              <a:srgbClr val="F43F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1945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3F5E"/>
                </a:solidFill>
              </a:rPr>
              <a:t>❌ Código Vulnerável (Cliente acessa Financeiro)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2651760"/>
            <a:ext cx="45720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Rota de métricas da empresa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app.get("/api/v1/admin/financials",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authenticate, // Só checou se tem token!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(req, res) =&gt;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QUALQUER usuário logado vê isso!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res.json(db.getFinancialMetrics());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126480" y="2011680"/>
            <a:ext cx="5120640" cy="4023360"/>
          </a:xfrm>
          <a:prstGeom prst="rect">
            <a:avLst/>
          </a:prstGeom>
          <a:solidFill>
            <a:srgbClr val="132C26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21945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</a:rPr>
              <a:t>✅ Código Corrigido (RBAC Estrito)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2651760"/>
            <a:ext cx="45720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Protegido por Role no middleware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app.get("/api/v2/admin/financials",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authenticate,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requireRole("ADMIN"), // Bloqueia com 403!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(req, res) =&gt;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res.json(db.getFinancialMetrics());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OWASP API1:2023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BOLA: Broken Object Level Authorization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#1 da OWASP API Top 10! A loja Maria altera o preço do produto do João para R$ 1,00.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🛡️ Palestra de Segurança em TI | OWASP API Top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2011680"/>
            <a:ext cx="5120640" cy="4023360"/>
          </a:xfrm>
          <a:prstGeom prst="rect">
            <a:avLst/>
          </a:prstGeom>
          <a:solidFill>
            <a:srgbClr val="2D1522"/>
          </a:solidFill>
          <a:ln w="19050">
            <a:solidFill>
              <a:srgbClr val="F43F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1945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3F5E"/>
                </a:solidFill>
              </a:rPr>
              <a:t>❌ Código Vulnerável (Sem Validação de Dono)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2651760"/>
            <a:ext cx="45720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app.put("/api/v1/products/:id/price", (req, res) =&gt;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Confia cegamente no ID do parâmetro!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Product.update(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price: req.body.newPrice },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where: { id: req.params.id } 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res.json({ success: true });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126480" y="2011680"/>
            <a:ext cx="5120640" cy="4023360"/>
          </a:xfrm>
          <a:prstGeom prst="rect">
            <a:avLst/>
          </a:prstGeom>
          <a:solidFill>
            <a:srgbClr val="132C26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21945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</a:rPr>
              <a:t>✅ Código Corrigido (Ownership Check)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2651760"/>
            <a:ext cx="45720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app.put("/api/v2/products/:id/price", (req, res) =&gt;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product = Product.findById(req.params.id);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Valida explicitamente o dono do objeto: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(product.sellerId !== req.user.id)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res.status(403).json({ error: "Negado" });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product.updatePrice(req.body.newPrice);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HORA DO SHOW (AO VIVO)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Demonstração Prática (Live Hacking)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Executando as requisições na nossa API em Node.js com Express e Supabase.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🛡️ Palestra de Segurança em TI | OWASP API Top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2011680"/>
            <a:ext cx="3291840" cy="2286000"/>
          </a:xfrm>
          <a:prstGeom prst="rect">
            <a:avLst/>
          </a:prstGeom>
          <a:solidFill>
            <a:srgbClr val="2D1522"/>
          </a:solidFill>
          <a:ln w="15240">
            <a:solidFill>
              <a:srgbClr val="F43F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19456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3F5E"/>
                </a:solidFill>
              </a:rPr>
              <a:t>1. Ataque BFLA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651760"/>
            <a:ext cx="2926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Alice (CUSTOMER) acessa /api/v1/admin/financials e extrai todo o faturamento da empresa sem permissão.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97680" y="2011680"/>
            <a:ext cx="3291840" cy="2286000"/>
          </a:xfrm>
          <a:prstGeom prst="rect">
            <a:avLst/>
          </a:prstGeom>
          <a:solidFill>
            <a:srgbClr val="2D1522"/>
          </a:solidFill>
          <a:ln w="15240">
            <a:solidFill>
              <a:srgbClr val="F43F5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219456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3F5E"/>
                </a:solidFill>
              </a:rPr>
              <a:t>2. Ataque BOLA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480560" y="2651760"/>
            <a:ext cx="2926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Maria (SELLER #2) altera o preço do notebook de João (SELLER #1) via PUT /api/v1/products/1/price para R$ 1,00.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863840" y="2011680"/>
            <a:ext cx="3291840" cy="2286000"/>
          </a:xfrm>
          <a:prstGeom prst="rect">
            <a:avLst/>
          </a:prstGeom>
          <a:solidFill>
            <a:srgbClr val="132C26"/>
          </a:solidFill>
          <a:ln w="1524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0" y="219456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</a:rPr>
              <a:t>3. Defesa na V2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046720" y="2651760"/>
            <a:ext cx="2926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FAFC"/>
                </a:solidFill>
              </a:rPr>
              <a:t>Repetimos os ataques na rota /api/v2 e o backend rejeita com HTTP 403 Forbidden com RBAC e Ownership Check.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4663440"/>
            <a:ext cx="10515600" cy="1280160"/>
          </a:xfrm>
          <a:prstGeom prst="rect">
            <a:avLst/>
          </a:prstGeom>
          <a:solidFill>
            <a:srgbClr val="161E31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48463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</a:rPr>
              <a:t>💻 Arquivo de Testes Pronto: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05840" y="5166360"/>
            <a:ext cx="9966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</a:rPr>
              <a:t>Abra o arquivo test-requests/requests.http (REST Client) ou importe no Postman para executar em tempo real com a plateia!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LIÇÕES PARA A CARREIRA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Mandamentos da Segurança em APIs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todo desenvolvedor e arquiteto de software deve levar para a carreira: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🛡️ Palestra de Segurança em TI | OWASP API Top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2011680"/>
            <a:ext cx="3291840" cy="2560320"/>
          </a:xfrm>
          <a:prstGeom prst="rect">
            <a:avLst/>
          </a:prstGeom>
          <a:solidFill>
            <a:srgbClr val="161E31"/>
          </a:solidFill>
          <a:ln w="12700">
            <a:solidFill>
              <a:srgbClr val="2A36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19456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1. Token ≠ Permissão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743200"/>
            <a:ext cx="29260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Saber quem é o usuário (Autenticação) é só a metade do caminho. Saber o que ele pode acessar (Autorização) é o que impede invasões.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97680" y="2011680"/>
            <a:ext cx="3291840" cy="2560320"/>
          </a:xfrm>
          <a:prstGeom prst="rect">
            <a:avLst/>
          </a:prstGeom>
          <a:solidFill>
            <a:srgbClr val="161E31"/>
          </a:solidFill>
          <a:ln w="12700">
            <a:solidFill>
              <a:srgbClr val="2A364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219456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2. Valide o Dono Sempre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480560" y="2743200"/>
            <a:ext cx="29260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Nunca faça UPDATE ou DELETE baseado unicamente no ID da URL. Sempre adicione a cláusula restritiva: WHERE id = ? AND owner_id = ?.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863840" y="2011680"/>
            <a:ext cx="3291840" cy="2560320"/>
          </a:xfrm>
          <a:prstGeom prst="rect">
            <a:avLst/>
          </a:prstGeom>
          <a:solidFill>
            <a:srgbClr val="161E31"/>
          </a:solidFill>
          <a:ln w="12700">
            <a:solidFill>
              <a:srgbClr val="2A364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0" y="219456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3. Segredo JWT Forte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046720" y="2743200"/>
            <a:ext cx="29260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Nunca use senhas fracas no segredo de assinatura do JWT. Utilize chaves aleatórias de 256 bits geradas de forma criptográfica.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50292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BDF8"/>
                </a:solidFill>
              </a:rPr>
              <a:t>🚀 Obrigado! Perguntas &amp; Respostas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Teste de Segurança em REST APIs</dc:title>
  <dc:subject>PptxGenJS Presentation</dc:subject>
  <dc:creator>Estácio Tech Talk</dc:creator>
  <cp:lastModifiedBy>Estácio Tech Talk</cp:lastModifiedBy>
  <cp:revision>1</cp:revision>
  <dcterms:created xsi:type="dcterms:W3CDTF">2026-10-06T15:05:09Z</dcterms:created>
  <dcterms:modified xsi:type="dcterms:W3CDTF">2026-10-06T15:05:09Z</dcterms:modified>
</cp:coreProperties>
</file>