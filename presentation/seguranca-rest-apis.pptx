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2.svg" ContentType="image/svg+xml"/>
  <Override PartName="/ppt/media/image14.svg" ContentType="image/svg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7"/>
    <p:sldId id="263" r:id="rId18"/>
    <p:sldId id="264" r:id="rId19"/>
    <p:sldId id="265" r:id="rId20"/>
    <p:sldId id="266" r:id="rId21"/>
    <p:sldId id="267" r:id="rId22"/>
  </p:sldIdLst>
  <p:sldSz cx="18288000" cy="10287000"/>
  <p:notesSz cx="6858000" cy="9144000"/>
  <p:embeddedFontLst>
    <p:embeddedFont>
      <p:font typeface="Inter Bold" charset="1" panose="020B0802030000000004"/>
      <p:regular r:id="rId12"/>
    </p:embeddedFont>
    <p:embeddedFont>
      <p:font typeface="Inter" charset="1" panose="020B0502030000000004"/>
      <p:regular r:id="rId13"/>
    </p:embeddedFont>
    <p:embeddedFont>
      <p:font typeface="Neue Machina Ultra-Bold" charset="1" panose="00000900000000000000"/>
      <p:regular r:id="rId14"/>
    </p:embeddedFont>
    <p:embeddedFont>
      <p:font typeface="Glacial Indifference" charset="1" panose="00000000000000000000"/>
      <p:regular r:id="rId15"/>
    </p:embeddedFont>
    <p:embeddedFont>
      <p:font typeface="Glacial Indifference Bold" charset="1" panose="000008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jpeg"/><Relationship Id="rId6" Type="http://schemas.openxmlformats.org/officeDocument/2006/relationships/video" Target="../media/VAHXP6lhCyQ.mp4"/><Relationship Id="rId7" Type="http://schemas.microsoft.com/office/2007/relationships/media" Target="../media/VAHXP6lhCyQ.mp4"/><Relationship Id="rId8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3" Type="http://schemas.openxmlformats.org/officeDocument/2006/relationships/image" Target="../media/image11.png"/><Relationship Id="rId4" Type="http://schemas.openxmlformats.org/officeDocument/2006/relationships/image" Target="../media/image12.svg"/><Relationship Id="rId5" Type="http://schemas.openxmlformats.org/officeDocument/2006/relationships/image" Target="../media/image13.png"/><Relationship Id="rId6" Type="http://schemas.openxmlformats.org/officeDocument/2006/relationships/image" Target="../media/image14.svg"/><Relationship Id="rId7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9222" t="0" r="-922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10233" y="3008108"/>
            <a:ext cx="16305507" cy="1705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39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Teste de segurança para REST APIs</a:t>
            </a:r>
          </a:p>
          <a:p>
            <a:pPr algn="l" marL="928374" indent="-464187" lvl="1">
              <a:lnSpc>
                <a:spcPts val="6020"/>
              </a:lnSpc>
              <a:buFont typeface="Arial"/>
              <a:buChar char="•"/>
            </a:pPr>
            <a:r>
              <a:rPr lang="en-US" b="true" sz="43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Vulnerabilidades em JWT e permissões multiusuário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213838" y="8569923"/>
            <a:ext cx="4045462" cy="688377"/>
            <a:chOff x="0" y="0"/>
            <a:chExt cx="2388337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88337" cy="406400"/>
            </a:xfrm>
            <a:custGeom>
              <a:avLst/>
              <a:gdLst/>
              <a:ahLst/>
              <a:cxnLst/>
              <a:rect r="r" b="b" t="t" l="l"/>
              <a:pathLst>
                <a:path h="406400" w="2388337">
                  <a:moveTo>
                    <a:pt x="2185137" y="0"/>
                  </a:moveTo>
                  <a:cubicBezTo>
                    <a:pt x="2297362" y="0"/>
                    <a:pt x="2388337" y="90976"/>
                    <a:pt x="2388337" y="203200"/>
                  </a:cubicBezTo>
                  <a:cubicBezTo>
                    <a:pt x="2388337" y="315424"/>
                    <a:pt x="2297362" y="406400"/>
                    <a:pt x="218513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388337" cy="463550"/>
            </a:xfrm>
            <a:prstGeom prst="rect">
              <a:avLst/>
            </a:prstGeom>
          </p:spPr>
          <p:txBody>
            <a:bodyPr anchor="ctr" rtlCol="false" tIns="83539" lIns="83539" bIns="83539" rIns="83539"/>
            <a:lstStyle/>
            <a:p>
              <a:pPr algn="ctr">
                <a:lnSpc>
                  <a:spcPts val="4374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10233" y="958876"/>
            <a:ext cx="9890713" cy="117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58"/>
              </a:lnSpc>
            </a:pPr>
            <a:r>
              <a:rPr lang="en-US" sz="689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Qualidade de Software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82397" y="8692602"/>
            <a:ext cx="3508343" cy="39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8"/>
              </a:lnSpc>
            </a:pPr>
            <a:r>
              <a:rPr lang="en-US" sz="2341" spc="12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LOURIVAL JR.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22962" y="-122895"/>
            <a:ext cx="3808042" cy="10551054"/>
            <a:chOff x="0" y="0"/>
            <a:chExt cx="1002941" cy="27788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2941" cy="2778878"/>
            </a:xfrm>
            <a:custGeom>
              <a:avLst/>
              <a:gdLst/>
              <a:ahLst/>
              <a:cxnLst/>
              <a:rect r="r" b="b" t="t" l="l"/>
              <a:pathLst>
                <a:path h="2778878" w="1002941">
                  <a:moveTo>
                    <a:pt x="0" y="0"/>
                  </a:moveTo>
                  <a:lnTo>
                    <a:pt x="1002941" y="0"/>
                  </a:lnTo>
                  <a:lnTo>
                    <a:pt x="1002941" y="2778878"/>
                  </a:lnTo>
                  <a:lnTo>
                    <a:pt x="0" y="2778878"/>
                  </a:lnTo>
                  <a:close/>
                </a:path>
              </a:pathLst>
            </a:custGeom>
            <a:solidFill>
              <a:srgbClr val="BA4C1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002941" cy="2836028"/>
            </a:xfrm>
            <a:prstGeom prst="rect">
              <a:avLst/>
            </a:prstGeom>
          </p:spPr>
          <p:txBody>
            <a:bodyPr anchor="ctr" rtlCol="false" tIns="71438" lIns="71438" bIns="71438" rIns="71438"/>
            <a:lstStyle/>
            <a:p>
              <a:pPr algn="ctr">
                <a:lnSpc>
                  <a:spcPts val="37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833299" y="769241"/>
            <a:ext cx="4915517" cy="491551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36225" y="0"/>
                  </a:moveTo>
                  <a:lnTo>
                    <a:pt x="776575" y="0"/>
                  </a:lnTo>
                  <a:cubicBezTo>
                    <a:pt x="786183" y="0"/>
                    <a:pt x="795396" y="3817"/>
                    <a:pt x="802190" y="10610"/>
                  </a:cubicBezTo>
                  <a:cubicBezTo>
                    <a:pt x="808983" y="17404"/>
                    <a:pt x="812800" y="26617"/>
                    <a:pt x="812800" y="36225"/>
                  </a:cubicBezTo>
                  <a:lnTo>
                    <a:pt x="812800" y="776575"/>
                  </a:lnTo>
                  <a:cubicBezTo>
                    <a:pt x="812800" y="786183"/>
                    <a:pt x="808983" y="795396"/>
                    <a:pt x="802190" y="802190"/>
                  </a:cubicBezTo>
                  <a:cubicBezTo>
                    <a:pt x="795396" y="808983"/>
                    <a:pt x="786183" y="812800"/>
                    <a:pt x="776575" y="812800"/>
                  </a:cubicBezTo>
                  <a:lnTo>
                    <a:pt x="36225" y="812800"/>
                  </a:lnTo>
                  <a:cubicBezTo>
                    <a:pt x="26617" y="812800"/>
                    <a:pt x="17404" y="808983"/>
                    <a:pt x="10610" y="802190"/>
                  </a:cubicBezTo>
                  <a:cubicBezTo>
                    <a:pt x="3817" y="795396"/>
                    <a:pt x="0" y="786183"/>
                    <a:pt x="0" y="776575"/>
                  </a:cubicBezTo>
                  <a:lnTo>
                    <a:pt x="0" y="36225"/>
                  </a:lnTo>
                  <a:cubicBezTo>
                    <a:pt x="0" y="26617"/>
                    <a:pt x="3817" y="17404"/>
                    <a:pt x="10610" y="10610"/>
                  </a:cubicBezTo>
                  <a:cubicBezTo>
                    <a:pt x="17404" y="3817"/>
                    <a:pt x="26617" y="0"/>
                    <a:pt x="36225" y="0"/>
                  </a:cubicBezTo>
                  <a:close/>
                </a:path>
              </a:pathLst>
            </a:custGeom>
            <a:blipFill>
              <a:blip r:embed="rId2"/>
              <a:stretch>
                <a:fillRect l="-31799" t="0" r="-31799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3942650" y="1266825"/>
            <a:ext cx="6540388" cy="322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0"/>
              </a:lnSpc>
            </a:pPr>
            <a:r>
              <a:rPr lang="en-US" sz="9000" b="true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Sobre</a:t>
            </a:r>
            <a:r>
              <a:rPr lang="en-US" sz="9000" b="true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 </a:t>
            </a:r>
          </a:p>
          <a:p>
            <a:pPr algn="l">
              <a:lnSpc>
                <a:spcPts val="8280"/>
              </a:lnSpc>
            </a:pPr>
            <a:r>
              <a:rPr lang="en-US" sz="9000" b="true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Mim</a:t>
            </a:r>
          </a:p>
          <a:p>
            <a:pPr algn="l">
              <a:lnSpc>
                <a:spcPts val="828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782229" y="3981046"/>
            <a:ext cx="8723542" cy="1858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5029" indent="-287514" lvl="1">
              <a:lnSpc>
                <a:spcPts val="3728"/>
              </a:lnSpc>
              <a:buFont typeface="Arial"/>
              <a:buChar char="•"/>
            </a:pPr>
            <a:r>
              <a:rPr lang="en-US" sz="266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Sou casado</a:t>
            </a:r>
          </a:p>
          <a:p>
            <a:pPr algn="l" marL="575029" indent="-287514" lvl="1">
              <a:lnSpc>
                <a:spcPts val="3728"/>
              </a:lnSpc>
              <a:buFont typeface="Arial"/>
              <a:buChar char="•"/>
            </a:pPr>
            <a:r>
              <a:rPr lang="en-US" sz="266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Explorandor do mundo de Zelda</a:t>
            </a:r>
          </a:p>
          <a:p>
            <a:pPr algn="l" marL="575029" indent="-287514" lvl="1">
              <a:lnSpc>
                <a:spcPts val="3728"/>
              </a:lnSpc>
              <a:buFont typeface="Arial"/>
              <a:buChar char="•"/>
            </a:pPr>
            <a:r>
              <a:rPr lang="en-US" sz="266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Fotografo noob</a:t>
            </a:r>
          </a:p>
          <a:p>
            <a:pPr algn="l" marL="575029" indent="-287514" lvl="1">
              <a:lnSpc>
                <a:spcPts val="3728"/>
              </a:lnSpc>
              <a:buFont typeface="Arial"/>
              <a:buChar char="•"/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Diagrama, Desenho técnico  O conteúdo gerado por IA pode estar incorreto.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" t="0" r="-3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2966848" y="1228725"/>
            <a:ext cx="13530452" cy="982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6"/>
              </a:lnSpc>
            </a:pPr>
            <a:r>
              <a:rPr lang="en-US" sz="7800" b="true">
                <a:solidFill>
                  <a:srgbClr val="FF7043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Meu Trabalho e Carreira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72933" y="2650753"/>
            <a:ext cx="12032439" cy="6035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5030" indent="-287515" lvl="1">
              <a:lnSpc>
                <a:spcPts val="4048"/>
              </a:lnSpc>
              <a:buFont typeface="Arial"/>
              <a:buChar char="•"/>
            </a:pPr>
            <a:r>
              <a:rPr lang="en-US" sz="2663" spc="79">
                <a:solidFill>
                  <a:srgbClr val="FF704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Formação: </a:t>
            </a:r>
          </a:p>
          <a:p>
            <a:pPr algn="l" marL="1150059" indent="-383353" lvl="2">
              <a:lnSpc>
                <a:spcPts val="4048"/>
              </a:lnSpc>
              <a:buFont typeface="Arial"/>
              <a:buChar char="⚬"/>
            </a:pPr>
            <a:r>
              <a:rPr lang="en-US" sz="2663" spc="7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Bacharelado em Sistemas de Informação - UPFA (Campus Castanhal)</a:t>
            </a:r>
          </a:p>
          <a:p>
            <a:pPr algn="l" marL="1150059" indent="-383353" lvl="2">
              <a:lnSpc>
                <a:spcPts val="4048"/>
              </a:lnSpc>
              <a:buFont typeface="Arial"/>
              <a:buChar char="⚬"/>
            </a:pPr>
            <a:r>
              <a:rPr lang="en-US" sz="2663" spc="7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Mestrado em Engenharia de Software - CESAR School (Incompleto)</a:t>
            </a:r>
          </a:p>
          <a:p>
            <a:pPr algn="l">
              <a:lnSpc>
                <a:spcPts val="4048"/>
              </a:lnSpc>
            </a:pPr>
          </a:p>
          <a:p>
            <a:pPr algn="l" marL="575030" indent="-287515" lvl="1">
              <a:lnSpc>
                <a:spcPts val="4048"/>
              </a:lnSpc>
              <a:buFont typeface="Arial"/>
              <a:buChar char="•"/>
            </a:pPr>
            <a:r>
              <a:rPr lang="en-US" sz="2663" spc="7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Atuo como QA a 11 anos</a:t>
            </a:r>
          </a:p>
          <a:p>
            <a:pPr algn="l" marL="575030" indent="-287515" lvl="1">
              <a:lnSpc>
                <a:spcPts val="4048"/>
              </a:lnSpc>
              <a:buFont typeface="Arial"/>
              <a:buChar char="•"/>
            </a:pPr>
            <a:r>
              <a:rPr lang="en-US" sz="2663" spc="7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Software Development Specialist - </a:t>
            </a:r>
            <a:r>
              <a:rPr lang="en-US" b="true" sz="2663" strike="sngStrike" spc="79">
                <a:solidFill>
                  <a:srgbClr val="FF704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Encora</a:t>
            </a:r>
            <a:r>
              <a:rPr lang="en-US" b="true" sz="2663" spc="7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Coforge</a:t>
            </a:r>
          </a:p>
          <a:p>
            <a:pPr algn="l" marL="575030" indent="-287515" lvl="1">
              <a:lnSpc>
                <a:spcPts val="4048"/>
              </a:lnSpc>
              <a:buFont typeface="Arial"/>
              <a:buChar char="•"/>
            </a:pPr>
            <a:r>
              <a:rPr lang="en-US" sz="2663" spc="79">
                <a:solidFill>
                  <a:srgbClr val="FF704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Experiencias:</a:t>
            </a:r>
          </a:p>
          <a:p>
            <a:pPr algn="l" marL="1150059" indent="-383353" lvl="2">
              <a:lnSpc>
                <a:spcPts val="4048"/>
              </a:lnSpc>
              <a:buFont typeface="Arial"/>
              <a:buChar char="⚬"/>
            </a:pPr>
            <a:r>
              <a:rPr lang="en-US" sz="2663" spc="7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Engenheiro de teste - </a:t>
            </a:r>
            <a:r>
              <a:rPr lang="en-US" b="true" sz="2663" spc="7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CIN e CESAR</a:t>
            </a:r>
            <a:r>
              <a:rPr lang="en-US" sz="2663" spc="7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(projetos Motorola)</a:t>
            </a:r>
          </a:p>
          <a:p>
            <a:pPr algn="l" marL="1150059" indent="-383353" lvl="2">
              <a:lnSpc>
                <a:spcPts val="4048"/>
              </a:lnSpc>
              <a:buFont typeface="Arial"/>
              <a:buChar char="⚬"/>
            </a:pPr>
            <a:r>
              <a:rPr lang="en-US" sz="2663" spc="7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QA Especialista e PO – </a:t>
            </a:r>
            <a:r>
              <a:rPr lang="en-US" b="true" sz="2663" spc="7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Bemol Serviços Financeiros</a:t>
            </a:r>
          </a:p>
          <a:p>
            <a:pPr algn="l" marL="1150059" indent="-383353" lvl="2">
              <a:lnSpc>
                <a:spcPts val="4048"/>
              </a:lnSpc>
              <a:buFont typeface="Arial"/>
              <a:buChar char="⚬"/>
            </a:pPr>
            <a:r>
              <a:rPr lang="en-US" sz="2663" spc="7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QA Senior -</a:t>
            </a:r>
            <a:r>
              <a:rPr lang="en-US" b="true" sz="2663" spc="7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Banco Neon</a:t>
            </a:r>
            <a:r>
              <a:rPr lang="en-US" sz="2663" spc="7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- LinkedIn Top Startups Brasil 2021</a:t>
            </a:r>
          </a:p>
          <a:p>
            <a:pPr algn="l" marL="1150059" indent="-383353" lvl="2">
              <a:lnSpc>
                <a:spcPts val="4048"/>
              </a:lnSpc>
              <a:buFont typeface="Arial"/>
              <a:buChar char="⚬"/>
            </a:pPr>
            <a:r>
              <a:rPr lang="en-US" sz="2663" spc="7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QA Lead – </a:t>
            </a:r>
            <a:r>
              <a:rPr lang="en-US" b="true" sz="2663" spc="7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Doji</a:t>
            </a:r>
          </a:p>
          <a:p>
            <a:pPr algn="l">
              <a:lnSpc>
                <a:spcPts val="4048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0" y="0"/>
            <a:ext cx="1028700" cy="10287000"/>
            <a:chOff x="0" y="0"/>
            <a:chExt cx="270933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E355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70933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99780" y="1162601"/>
            <a:ext cx="4688439" cy="903287"/>
            <a:chOff x="0" y="0"/>
            <a:chExt cx="2109387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9388" cy="406400"/>
            </a:xfrm>
            <a:custGeom>
              <a:avLst/>
              <a:gdLst/>
              <a:ahLst/>
              <a:cxnLst/>
              <a:rect r="r" b="b" t="t" l="l"/>
              <a:pathLst>
                <a:path h="406400" w="2109388">
                  <a:moveTo>
                    <a:pt x="1906188" y="0"/>
                  </a:moveTo>
                  <a:cubicBezTo>
                    <a:pt x="2018412" y="0"/>
                    <a:pt x="2109388" y="90976"/>
                    <a:pt x="2109388" y="203200"/>
                  </a:cubicBezTo>
                  <a:cubicBezTo>
                    <a:pt x="2109388" y="315424"/>
                    <a:pt x="2018412" y="406400"/>
                    <a:pt x="190618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109387" cy="463550"/>
            </a:xfrm>
            <a:prstGeom prst="rect">
              <a:avLst/>
            </a:prstGeom>
          </p:spPr>
          <p:txBody>
            <a:bodyPr anchor="ctr" rtlCol="false" tIns="82819" lIns="82819" bIns="82819" rIns="82819"/>
            <a:lstStyle/>
            <a:p>
              <a:pPr algn="ctr">
                <a:lnSpc>
                  <a:spcPts val="4336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180429" y="2947650"/>
            <a:ext cx="6777812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180429" y="4346245"/>
            <a:ext cx="6777812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180429" y="5744840"/>
            <a:ext cx="6777812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180429" y="7143436"/>
            <a:ext cx="6777812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180429" y="8542031"/>
            <a:ext cx="6777812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628740" y="3492065"/>
            <a:ext cx="307838" cy="460227"/>
          </a:xfrm>
          <a:custGeom>
            <a:avLst/>
            <a:gdLst/>
            <a:ahLst/>
            <a:cxnLst/>
            <a:rect r="r" b="b" t="t" l="l"/>
            <a:pathLst>
              <a:path h="460227" w="307838">
                <a:moveTo>
                  <a:pt x="0" y="0"/>
                </a:moveTo>
                <a:lnTo>
                  <a:pt x="307837" y="0"/>
                </a:lnTo>
                <a:lnTo>
                  <a:pt x="307837" y="460227"/>
                </a:lnTo>
                <a:lnTo>
                  <a:pt x="0" y="4602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28740" y="4890502"/>
            <a:ext cx="307838" cy="460227"/>
          </a:xfrm>
          <a:custGeom>
            <a:avLst/>
            <a:gdLst/>
            <a:ahLst/>
            <a:cxnLst/>
            <a:rect r="r" b="b" t="t" l="l"/>
            <a:pathLst>
              <a:path h="460227" w="307838">
                <a:moveTo>
                  <a:pt x="0" y="0"/>
                </a:moveTo>
                <a:lnTo>
                  <a:pt x="307837" y="0"/>
                </a:lnTo>
                <a:lnTo>
                  <a:pt x="307837" y="460227"/>
                </a:lnTo>
                <a:lnTo>
                  <a:pt x="0" y="4602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28740" y="6288939"/>
            <a:ext cx="307838" cy="460227"/>
          </a:xfrm>
          <a:custGeom>
            <a:avLst/>
            <a:gdLst/>
            <a:ahLst/>
            <a:cxnLst/>
            <a:rect r="r" b="b" t="t" l="l"/>
            <a:pathLst>
              <a:path h="460227" w="307838">
                <a:moveTo>
                  <a:pt x="0" y="0"/>
                </a:moveTo>
                <a:lnTo>
                  <a:pt x="307837" y="0"/>
                </a:lnTo>
                <a:lnTo>
                  <a:pt x="307837" y="460227"/>
                </a:lnTo>
                <a:lnTo>
                  <a:pt x="0" y="4602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28740" y="7687376"/>
            <a:ext cx="307838" cy="460227"/>
          </a:xfrm>
          <a:custGeom>
            <a:avLst/>
            <a:gdLst/>
            <a:ahLst/>
            <a:cxnLst/>
            <a:rect r="r" b="b" t="t" l="l"/>
            <a:pathLst>
              <a:path h="460227" w="307838">
                <a:moveTo>
                  <a:pt x="0" y="0"/>
                </a:moveTo>
                <a:lnTo>
                  <a:pt x="307837" y="0"/>
                </a:lnTo>
                <a:lnTo>
                  <a:pt x="307837" y="460227"/>
                </a:lnTo>
                <a:lnTo>
                  <a:pt x="0" y="4602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10408791" y="4450724"/>
            <a:ext cx="6720959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0408791" y="5837588"/>
            <a:ext cx="6720959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0408791" y="3063860"/>
            <a:ext cx="6720959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0408791" y="7224452"/>
            <a:ext cx="6720959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0408791" y="8611316"/>
            <a:ext cx="6720959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0736315" y="3603080"/>
            <a:ext cx="305256" cy="456367"/>
          </a:xfrm>
          <a:custGeom>
            <a:avLst/>
            <a:gdLst/>
            <a:ahLst/>
            <a:cxnLst/>
            <a:rect r="r" b="b" t="t" l="l"/>
            <a:pathLst>
              <a:path h="456367" w="305256">
                <a:moveTo>
                  <a:pt x="0" y="0"/>
                </a:moveTo>
                <a:lnTo>
                  <a:pt x="305255" y="0"/>
                </a:lnTo>
                <a:lnTo>
                  <a:pt x="305255" y="456367"/>
                </a:lnTo>
                <a:lnTo>
                  <a:pt x="0" y="456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736315" y="4989787"/>
            <a:ext cx="305256" cy="456367"/>
          </a:xfrm>
          <a:custGeom>
            <a:avLst/>
            <a:gdLst/>
            <a:ahLst/>
            <a:cxnLst/>
            <a:rect r="r" b="b" t="t" l="l"/>
            <a:pathLst>
              <a:path h="456367" w="305256">
                <a:moveTo>
                  <a:pt x="0" y="0"/>
                </a:moveTo>
                <a:lnTo>
                  <a:pt x="305255" y="0"/>
                </a:lnTo>
                <a:lnTo>
                  <a:pt x="305255" y="456366"/>
                </a:lnTo>
                <a:lnTo>
                  <a:pt x="0" y="456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736315" y="6376493"/>
            <a:ext cx="305256" cy="456367"/>
          </a:xfrm>
          <a:custGeom>
            <a:avLst/>
            <a:gdLst/>
            <a:ahLst/>
            <a:cxnLst/>
            <a:rect r="r" b="b" t="t" l="l"/>
            <a:pathLst>
              <a:path h="456367" w="305256">
                <a:moveTo>
                  <a:pt x="0" y="0"/>
                </a:moveTo>
                <a:lnTo>
                  <a:pt x="305255" y="0"/>
                </a:lnTo>
                <a:lnTo>
                  <a:pt x="305255" y="456367"/>
                </a:lnTo>
                <a:lnTo>
                  <a:pt x="0" y="456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736315" y="7763200"/>
            <a:ext cx="305256" cy="456367"/>
          </a:xfrm>
          <a:custGeom>
            <a:avLst/>
            <a:gdLst/>
            <a:ahLst/>
            <a:cxnLst/>
            <a:rect r="r" b="b" t="t" l="l"/>
            <a:pathLst>
              <a:path h="456367" w="305256">
                <a:moveTo>
                  <a:pt x="0" y="0"/>
                </a:moveTo>
                <a:lnTo>
                  <a:pt x="305255" y="0"/>
                </a:lnTo>
                <a:lnTo>
                  <a:pt x="305255" y="456367"/>
                </a:lnTo>
                <a:lnTo>
                  <a:pt x="0" y="456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7808399" y="1171427"/>
            <a:ext cx="2671201" cy="79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9"/>
              </a:lnSpc>
            </a:pPr>
            <a:r>
              <a:rPr lang="en-US" sz="4606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Sumário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01198" y="3466264"/>
            <a:ext cx="5596535" cy="40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1"/>
              </a:lnSpc>
            </a:pPr>
            <a:r>
              <a:rPr lang="en-US" sz="29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 que um QA faz?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401198" y="4873150"/>
            <a:ext cx="5670997" cy="40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1"/>
              </a:lnSpc>
            </a:pPr>
            <a:r>
              <a:rPr lang="en-US" sz="29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Teste de segurança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01198" y="6280066"/>
            <a:ext cx="6012093" cy="40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1"/>
              </a:lnSpc>
            </a:pPr>
            <a:r>
              <a:rPr lang="en-US" sz="29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Camadas de teste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401198" y="7686983"/>
            <a:ext cx="6540132" cy="40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1"/>
              </a:lnSpc>
            </a:pPr>
            <a:r>
              <a:rPr lang="en-US" sz="29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Entendendo o conceito de Rest API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75815" y="3611389"/>
            <a:ext cx="4800218" cy="40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1"/>
              </a:lnSpc>
            </a:pPr>
            <a:r>
              <a:rPr lang="en-US" sz="29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Token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75815" y="5006504"/>
            <a:ext cx="4800218" cy="40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1"/>
              </a:lnSpc>
            </a:pPr>
            <a:r>
              <a:rPr lang="en-US" sz="29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BFLA / BOLA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475815" y="6401619"/>
            <a:ext cx="5801690" cy="40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1"/>
              </a:lnSpc>
            </a:pPr>
            <a:r>
              <a:rPr lang="en-US" sz="29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Mão na massa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475815" y="7796704"/>
            <a:ext cx="4800218" cy="40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1"/>
              </a:lnSpc>
            </a:pPr>
            <a:r>
              <a:rPr lang="en-US" sz="29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Considerações finais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Diagrama, Desenho técnico  O conteúdo gerado por IA pode estar incorreto.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" t="0" r="-3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0" y="0"/>
            <a:ext cx="1028700" cy="10287000"/>
            <a:chOff x="0" y="0"/>
            <a:chExt cx="270933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E355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70933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0"/>
                </a:lnSpc>
              </a:p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966848" y="1100000"/>
            <a:ext cx="13530452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0A0A0A"/>
                </a:solidFill>
                <a:latin typeface="Neue Machina Ultra-Bold"/>
              </a:defRPr>
            </a:pPr>
            <a:r>
              <a:rPr>
                <a:solidFill>
                  <a:srgbClr val="FFFFFF"/>
                </a:solidFill>
              </a:rPr>
              <a:t>O que um QA faz?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000" y="2400000"/>
            <a:ext cx="12500000" cy="6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A evolução do papel de Qualidade no ciclo de vida de software:</a:t>
            </a:r>
          </a:p>
          <a:p>
            <a:pPr>
              <a:defRPr sz="1400" b="0">
                <a:solidFill>
                  <a:srgbClr val="000000"/>
                </a:solidFill>
                <a:latin typeface="Glacial Indifference"/>
              </a:defRPr>
            </a:pPr>
          </a:p>
          <a:p>
            <a:pPr>
              <a:defRPr sz="2600" b="0">
                <a:solidFill>
                  <a:srgbClr val="282828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• Da verificação manual à Engenharia de Qualidade (QE).</a:t>
            </a:r>
          </a:p>
          <a:p>
            <a:pPr>
              <a:defRPr sz="2600" b="0">
                <a:solidFill>
                  <a:srgbClr val="282828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• Garantia de requisitos funcionais, performance, usabilidade e segurança.</a:t>
            </a:r>
          </a:p>
          <a:p>
            <a:pPr>
              <a:defRPr sz="2600" b="0">
                <a:solidFill>
                  <a:srgbClr val="282828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• 'Shift-Left Testing': Testar antes, pensar na segurança desde a concepção da API.</a:t>
            </a:r>
          </a:p>
          <a:p>
            <a:pPr>
              <a:defRPr sz="2600" b="0">
                <a:solidFill>
                  <a:srgbClr val="282828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• O QA moderno não procura apenas falhas na tela: ele valida contratos de APIs, autorizações e regras de negócio no backend.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Diagrama, Desenho técnico  O conteúdo gerado por IA pode estar incorreto.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" t="0" r="-3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0" y="0"/>
            <a:ext cx="1028700" cy="10287000"/>
            <a:chOff x="0" y="0"/>
            <a:chExt cx="270933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E355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70933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0"/>
                </a:lnSpc>
              </a:p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966848" y="1100000"/>
            <a:ext cx="13530452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0A0A0A"/>
                </a:solidFill>
                <a:latin typeface="Neue Machina Ultra-Bold"/>
              </a:defRPr>
            </a:pPr>
            <a:r>
              <a:rPr>
                <a:solidFill>
                  <a:srgbClr val="FFFFFF"/>
                </a:solidFill>
              </a:rPr>
              <a:t>Teste de Segurança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000" y="2400000"/>
            <a:ext cx="12500000" cy="6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Por que segurança de APIs é responsabilidade de Qualidade?</a:t>
            </a:r>
          </a:p>
          <a:p>
            <a:pPr>
              <a:defRPr sz="1400" b="0">
                <a:solidFill>
                  <a:srgbClr val="000000"/>
                </a:solidFill>
                <a:latin typeface="Glacial Indifference"/>
              </a:defRPr>
            </a:pPr>
          </a:p>
          <a:p>
            <a:pPr>
              <a:defRPr sz="2600" b="0">
                <a:solidFill>
                  <a:srgbClr val="282828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• Mais de 80% do tráfego web atual trafega exclusivamente por REST APIs.</a:t>
            </a:r>
          </a:p>
          <a:p>
            <a:pPr>
              <a:defRPr sz="2600" b="0">
                <a:solidFill>
                  <a:srgbClr val="282828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• Falhas de autorização geralmente NÃO quebram o sistema (não dão erro 500 nem alerta na tela).</a:t>
            </a:r>
          </a:p>
          <a:p>
            <a:pPr>
              <a:defRPr sz="2600" b="0">
                <a:solidFill>
                  <a:srgbClr val="282828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• Se um usuário compra um produto de R$ 15.000 por R$ 1,00, a API responde '200 OK - Pedido Criado com Sucesso!'.</a:t>
            </a:r>
          </a:p>
          <a:p>
            <a:pPr>
              <a:defRPr sz="2600" b="0">
                <a:solidFill>
                  <a:srgbClr val="282828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• O papel do QA é testar caminhos de exceção e ataques de abuso de permissão (OWASP API Security Top 10).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 descr="Diagrama, Desenho técnico  O conteúdo gerado por IA pode estar incorreto.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" t="0" r="-3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0" y="0"/>
            <a:ext cx="1028700" cy="10287000"/>
            <a:chOff x="0" y="0"/>
            <a:chExt cx="270933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E355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70933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0"/>
                </a:lnSpc>
              </a:p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966848" y="1100000"/>
            <a:ext cx="13530452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0A0A0A"/>
                </a:solidFill>
                <a:latin typeface="Neue Machina Ultra-Bold"/>
              </a:defRPr>
            </a:pPr>
            <a:r>
              <a:rPr>
                <a:solidFill>
                  <a:srgbClr val="FFFFFF"/>
                </a:solidFill>
              </a:rPr>
              <a:t>Camadas de Teste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000" y="2400000"/>
            <a:ext cx="12500000" cy="6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A Pirâmide e Estratégia de Testes para APIs:</a:t>
            </a:r>
          </a:p>
          <a:p>
            <a:pPr>
              <a:defRPr sz="1400" b="0">
                <a:solidFill>
                  <a:srgbClr val="000000"/>
                </a:solidFill>
                <a:latin typeface="Glacial Indifference"/>
              </a:defRPr>
            </a:pPr>
          </a:p>
          <a:p>
            <a:pPr>
              <a:defRPr sz="2500" b="0">
                <a:solidFill>
                  <a:srgbClr val="282828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1. Testes Unitários: Validam métodos isolados (ex: função de cálculo de desconto e hash de senha).</a:t>
            </a:r>
          </a:p>
          <a:p>
            <a:pPr>
              <a:defRPr sz="2500" b="0">
                <a:solidFill>
                  <a:srgbClr val="282828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2. Testes de Integração / Contrato: Validam middlewares de autenticação, rotas e banco de dados.</a:t>
            </a:r>
          </a:p>
          <a:p>
            <a:pPr>
              <a:defRPr sz="2500" b="1">
                <a:solidFill>
                  <a:srgbClr val="141414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3. Testes de Segurança de API (Live Hacking):</a:t>
            </a:r>
          </a:p>
          <a:p>
            <a:pPr>
              <a:defRPr sz="2400" b="0">
                <a:solidFill>
                  <a:srgbClr val="323232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   - BFLA (Quebra de função administrativa).</a:t>
            </a:r>
          </a:p>
          <a:p>
            <a:pPr>
              <a:defRPr sz="2400" b="0">
                <a:solidFill>
                  <a:srgbClr val="323232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   - BOLA / IDOR (Manipulação de parâmetros de objetos alheios).</a:t>
            </a:r>
          </a:p>
          <a:p>
            <a:pPr>
              <a:defRPr sz="2400" b="0">
                <a:solidFill>
                  <a:srgbClr val="323232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   - Price Tampering &amp; Data Integrity (Adulteração de valores e propriedades).</a:t>
            </a:r>
          </a:p>
          <a:p>
            <a:pPr>
              <a:defRPr sz="2500" b="0">
                <a:solidFill>
                  <a:srgbClr val="282828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4. Testes End-to-End (E2E): Fluxo completo pelo frontend até o checkout.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 descr="Diagrama, Desenho técnico  O conteúdo gerado por IA pode estar incorreto.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" t="0" r="-3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0" y="0"/>
            <a:ext cx="1028700" cy="10287000"/>
            <a:chOff x="0" y="0"/>
            <a:chExt cx="270933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E355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70933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0"/>
                </a:lnSpc>
              </a:p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966848" y="1100000"/>
            <a:ext cx="13530452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eue Machina Ultra-Bold"/>
              </a:defRPr>
            </a:pPr>
            <a:r>
              <a:t>Entendendo o Conceito de REST API</a:t>
            </a:r>
          </a:p>
          <a:p>
            <a:pPr>
              <a:defRPr sz="1300" b="1">
                <a:solidFill>
                  <a:srgbClr val="FF7043"/>
                </a:solidFill>
              </a:defRPr>
            </a:pPr>
            <a:r>
              <a:t>MÉTODOS HTTP:</a:t>
            </a:r>
          </a:p>
          <a:p>
            <a:pPr>
              <a:defRPr sz="1300" b="0">
                <a:solidFill>
                  <a:srgbClr val="7DD3FC"/>
                </a:solidFill>
              </a:defRPr>
            </a:pPr>
            <a:r>
              <a:t>  • [GET] Leitura e consulta (sem efeitos colaterais)</a:t>
            </a:r>
          </a:p>
          <a:p>
            <a:pPr>
              <a:defRPr sz="1300" b="0">
                <a:solidFill>
                  <a:srgbClr val="6EE7B7"/>
                </a:solidFill>
              </a:defRPr>
            </a:pPr>
            <a:r>
              <a:t>  • [POST] Criação de novos recursos no servidor</a:t>
            </a:r>
          </a:p>
          <a:p>
            <a:pPr>
              <a:defRPr sz="1300" b="0">
                <a:solidFill>
                  <a:srgbClr val="FCD34D"/>
                </a:solidFill>
              </a:defRPr>
            </a:pPr>
            <a:r>
              <a:t>  • [PUT / PATCH] Atualização e alteração (alvo comum de BOLA)</a:t>
            </a:r>
          </a:p>
          <a:p>
            <a:pPr>
              <a:defRPr sz="1300" b="0">
                <a:solidFill>
                  <a:srgbClr val="FDA4AF"/>
                </a:solidFill>
              </a:defRPr>
            </a:pPr>
            <a:r>
              <a:t>  • [DELETE] Exclusão de recursos (necessita checagem estrita de dono)</a:t>
            </a:r>
          </a:p>
          <a:p>
            <a:pPr>
              <a:defRPr sz="1300" b="0">
                <a:solidFill>
                  <a:srgbClr val="FFFFFF"/>
                </a:solidFill>
              </a:defRPr>
            </a:pPr>
          </a:p>
          <a:p>
            <a:pPr>
              <a:defRPr sz="1300" b="1">
                <a:solidFill>
                  <a:srgbClr val="FF7043"/>
                </a:solidFill>
              </a:defRPr>
            </a:pPr>
            <a:r>
              <a:t>CÓDIGOS DE STATUS AUDITADOS POR QA:</a:t>
            </a:r>
          </a:p>
          <a:p>
            <a:pPr>
              <a:defRPr sz="1300" b="0">
                <a:solidFill>
                  <a:srgbClr val="6EE7B7"/>
                </a:solidFill>
              </a:defRPr>
            </a:pPr>
            <a:r>
              <a:t>  • [200 OK / 201 Created] Sucesso na operação</a:t>
            </a:r>
          </a:p>
          <a:p>
            <a:pPr>
              <a:defRPr sz="1300" b="0">
                <a:solidFill>
                  <a:srgbClr val="FDA4AF"/>
                </a:solidFill>
              </a:defRPr>
            </a:pPr>
            <a:r>
              <a:t>  • [401 Unauthorized] Não autenticado (sem token ou token inválido)</a:t>
            </a:r>
          </a:p>
          <a:p>
            <a:pPr>
              <a:defRPr sz="1300" b="0">
                <a:solidFill>
                  <a:srgbClr val="FFAB91"/>
                </a:solidFill>
              </a:defRPr>
            </a:pPr>
            <a:r>
              <a:t>  • [403 Forbidden] Autenticado, mas SEM PERMISSÃO para este recurso</a:t>
            </a:r>
          </a:p>
          <a:p>
            <a:pPr>
              <a:defRPr sz="1300" b="0">
                <a:solidFill>
                  <a:srgbClr val="D8B4FE"/>
                </a:solidFill>
              </a:defRPr>
            </a:pPr>
            <a:r>
              <a:t>  • [404 Not Found] Recurso inexistente ou mascarado por segurança</a:t>
            </a:r>
          </a:p>
          <a:p>
            <a:pPr>
              <a:defRPr sz="1300" b="0">
                <a:solidFill>
                  <a:srgbClr val="FFFFFF"/>
                </a:solidFill>
              </a:defRPr>
            </a:pP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CONCEITO STATELESS:</a:t>
            </a:r>
          </a:p>
          <a:p>
            <a:pPr>
              <a:defRPr sz="1300" b="0">
                <a:solidFill>
                  <a:srgbClr val="CBD5E1"/>
                </a:solidFill>
              </a:defRPr>
            </a:pPr>
            <a:r>
              <a:t>  • Cada requisição contém todas as credenciais (JWT) necessárias para ser validada.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000" y="2400000"/>
            <a:ext cx="12500000" cy="6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lacial Indifference"/>
              </a:defRPr>
            </a:pPr>
            <a:r>
              <a:t>Entendendo o Conceito de REST API</a:t>
            </a:r>
          </a:p>
          <a:p>
            <a:pPr>
              <a:defRPr sz="1300" b="1">
                <a:solidFill>
                  <a:srgbClr val="FF7043"/>
                </a:solidFill>
              </a:defRPr>
            </a:pPr>
            <a:r>
              <a:t>MÉTODOS HTTP:</a:t>
            </a:r>
          </a:p>
          <a:p>
            <a:pPr>
              <a:defRPr sz="1300" b="0">
                <a:solidFill>
                  <a:srgbClr val="7DD3FC"/>
                </a:solidFill>
              </a:defRPr>
            </a:pPr>
            <a:r>
              <a:t>  • [GET] Leitura e consulta (sem efeitos colaterais)</a:t>
            </a:r>
          </a:p>
          <a:p>
            <a:pPr>
              <a:defRPr sz="1300" b="0">
                <a:solidFill>
                  <a:srgbClr val="6EE7B7"/>
                </a:solidFill>
              </a:defRPr>
            </a:pPr>
            <a:r>
              <a:t>  • [POST] Criação de novos recursos no servidor</a:t>
            </a:r>
          </a:p>
          <a:p>
            <a:pPr>
              <a:defRPr sz="1300" b="0">
                <a:solidFill>
                  <a:srgbClr val="FCD34D"/>
                </a:solidFill>
              </a:defRPr>
            </a:pPr>
            <a:r>
              <a:t>  • [PUT / PATCH] Atualização e alteração (alvo comum de BOLA)</a:t>
            </a:r>
          </a:p>
          <a:p>
            <a:pPr>
              <a:defRPr sz="1300" b="0">
                <a:solidFill>
                  <a:srgbClr val="FDA4AF"/>
                </a:solidFill>
              </a:defRPr>
            </a:pPr>
            <a:r>
              <a:t>  • [DELETE] Exclusão de recursos (necessita checagem estrita de dono)</a:t>
            </a:r>
          </a:p>
          <a:p>
            <a:pPr>
              <a:defRPr sz="1300" b="0">
                <a:solidFill>
                  <a:srgbClr val="FFFFFF"/>
                </a:solidFill>
              </a:defRPr>
            </a:pPr>
          </a:p>
          <a:p>
            <a:pPr>
              <a:defRPr sz="1300" b="1">
                <a:solidFill>
                  <a:srgbClr val="FF7043"/>
                </a:solidFill>
              </a:defRPr>
            </a:pPr>
            <a:r>
              <a:t>CÓDIGOS DE STATUS AUDITADOS POR QA:</a:t>
            </a:r>
          </a:p>
          <a:p>
            <a:pPr>
              <a:defRPr sz="1300" b="0">
                <a:solidFill>
                  <a:srgbClr val="6EE7B7"/>
                </a:solidFill>
              </a:defRPr>
            </a:pPr>
            <a:r>
              <a:t>  • [200 OK / 201 Created] Sucesso na operação</a:t>
            </a:r>
          </a:p>
          <a:p>
            <a:pPr>
              <a:defRPr sz="1300" b="0">
                <a:solidFill>
                  <a:srgbClr val="FDA4AF"/>
                </a:solidFill>
              </a:defRPr>
            </a:pPr>
            <a:r>
              <a:t>  • [401 Unauthorized] Não autenticado (sem token ou token inválido)</a:t>
            </a:r>
          </a:p>
          <a:p>
            <a:pPr>
              <a:defRPr sz="1300" b="0">
                <a:solidFill>
                  <a:srgbClr val="FFAB91"/>
                </a:solidFill>
              </a:defRPr>
            </a:pPr>
            <a:r>
              <a:t>  • [403 Forbidden] Autenticado, mas SEM PERMISSÃO para este recurso</a:t>
            </a:r>
          </a:p>
          <a:p>
            <a:pPr>
              <a:defRPr sz="1300" b="0">
                <a:solidFill>
                  <a:srgbClr val="D8B4FE"/>
                </a:solidFill>
              </a:defRPr>
            </a:pPr>
            <a:r>
              <a:t>  • [404 Not Found] Recurso inexistente ou mascarado por segurança</a:t>
            </a:r>
          </a:p>
          <a:p>
            <a:pPr>
              <a:defRPr sz="1300" b="0">
                <a:solidFill>
                  <a:srgbClr val="FFFFFF"/>
                </a:solidFill>
              </a:defRPr>
            </a:pP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CONCEITO STATELESS:</a:t>
            </a:r>
          </a:p>
          <a:p>
            <a:pPr>
              <a:defRPr sz="1300" b="0">
                <a:solidFill>
                  <a:srgbClr val="CBD5E1"/>
                </a:solidFill>
              </a:defRPr>
            </a:pPr>
            <a:r>
              <a:t>  • Cada requisição contém todas as credenciais (JWT) necessárias para ser validada.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 descr="Diagrama, Desenho técnico  O conteúdo gerado por IA pode estar incorreto.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" t="0" r="-3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0" y="0"/>
            <a:ext cx="1028700" cy="10287000"/>
            <a:chOff x="0" y="0"/>
            <a:chExt cx="270933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E355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70933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0"/>
                </a:lnSpc>
              </a:p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966848" y="1100000"/>
            <a:ext cx="13530452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0A0A0A"/>
                </a:solidFill>
                <a:latin typeface="Neue Machina Ultra-Bold"/>
              </a:defRPr>
            </a:pPr>
            <a:r>
              <a:rPr>
                <a:solidFill>
                  <a:srgbClr val="FFFFFF"/>
                </a:solidFill>
              </a:rPr>
              <a:t>Token: Desmistificando o JWT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000" y="2400000"/>
            <a:ext cx="12500000" cy="6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O que é e o que NÃO é um JSON Web Token?</a:t>
            </a:r>
          </a:p>
          <a:p>
            <a:pPr>
              <a:defRPr sz="1400" b="0">
                <a:solidFill>
                  <a:srgbClr val="000000"/>
                </a:solidFill>
                <a:latin typeface="Glacial Indifference"/>
              </a:defRPr>
            </a:pPr>
          </a:p>
          <a:p>
            <a:pPr>
              <a:defRPr sz="2600" b="1">
                <a:solidFill>
                  <a:srgbClr val="B41414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• MITO DE MERCADO: 'JWT é criptografia' -&gt; FALSO!</a:t>
            </a:r>
          </a:p>
          <a:p>
            <a:pPr>
              <a:defRPr sz="2600" b="0">
                <a:solidFill>
                  <a:srgbClr val="282828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• O JWT é composto por 3 partes separadas por ponto: Header . Payload . Signature</a:t>
            </a:r>
          </a:p>
          <a:p>
            <a:pPr>
              <a:defRPr sz="2400" b="0">
                <a:solidFill>
                  <a:srgbClr val="323232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  - Header: Algoritmo (HS256) e tipo do token.</a:t>
            </a:r>
          </a:p>
          <a:p>
            <a:pPr>
              <a:defRPr sz="2400" b="0">
                <a:solidFill>
                  <a:srgbClr val="323232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  - Payload: Dados do usuário (id, username, role) codificados em Base64URL. Qualquer pessoa consegue ler!</a:t>
            </a:r>
          </a:p>
          <a:p>
            <a:pPr>
              <a:defRPr sz="2400" b="0">
                <a:solidFill>
                  <a:srgbClr val="323232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  - Signature: Garante a integridade com uma chave secreta do servidor.</a:t>
            </a:r>
          </a:p>
          <a:p>
            <a:pPr>
              <a:defRPr sz="2600" b="0">
                <a:solidFill>
                  <a:srgbClr val="282828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• Perigo real: Se a chave do backend for fraca ('secret123'), o token pode ser forjado para virar ADMIN!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 descr="Diagrama, Desenho técnico  O conteúdo gerado por IA pode estar incorreto.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" t="0" r="-3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0" y="0"/>
            <a:ext cx="1028700" cy="10287000"/>
            <a:chOff x="0" y="0"/>
            <a:chExt cx="270933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E355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70933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0"/>
                </a:lnSpc>
              </a:p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966848" y="1100000"/>
            <a:ext cx="13530452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0A0A0A"/>
                </a:solidFill>
                <a:latin typeface="Neue Machina Ultra-Bold"/>
              </a:defRPr>
            </a:pPr>
            <a:r>
              <a:rPr>
                <a:solidFill>
                  <a:srgbClr val="FFFFFF"/>
                </a:solidFill>
              </a:rPr>
              <a:t>BFLA / BOLA: As Falhas Mais Perigosas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000" y="2400000"/>
            <a:ext cx="12500000" cy="6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Top 10 OWASP API Security na prática:</a:t>
            </a:r>
          </a:p>
          <a:p>
            <a:pPr>
              <a:defRPr sz="1400" b="0">
                <a:solidFill>
                  <a:srgbClr val="000000"/>
                </a:solidFill>
                <a:latin typeface="Glacial Indifference"/>
              </a:defRPr>
            </a:pPr>
          </a:p>
          <a:p>
            <a:pPr>
              <a:defRPr sz="2600" b="1">
                <a:solidFill>
                  <a:srgbClr val="141414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1. BFLA (Broken Function Level Authorization - OWASP API5:2023):</a:t>
            </a:r>
          </a:p>
          <a:p>
            <a:pPr>
              <a:defRPr sz="2400" b="0">
                <a:solidFill>
                  <a:srgbClr val="323232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   - O servidor verifica se o token existe, mas não valida o papel (Role).</a:t>
            </a:r>
          </a:p>
          <a:p>
            <a:pPr>
              <a:defRPr sz="2400" b="0">
                <a:solidFill>
                  <a:srgbClr val="323232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   - Exemplo: Alice (cliente comum) chama GET /api/admin/financials e vê o faturamento secreto.</a:t>
            </a:r>
          </a:p>
          <a:p>
            <a:pPr>
              <a:defRPr sz="2600" b="1">
                <a:solidFill>
                  <a:srgbClr val="141414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2. BOLA (Broken Object Level Authorization - OWASP API1:2023):</a:t>
            </a:r>
          </a:p>
          <a:p>
            <a:pPr>
              <a:defRPr sz="2400" b="0">
                <a:solidFill>
                  <a:srgbClr val="323232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   - Atualização direta por ID na URL sem validar a propriedade do objeto.</a:t>
            </a:r>
          </a:p>
          <a:p>
            <a:pPr>
              <a:defRPr sz="2400" b="0">
                <a:solidFill>
                  <a:srgbClr val="323232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   - Exemplo: Maria altera o preço do MacBook de João via PUT /api/products/1/price.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 descr="Diagrama, Desenho técnico  O conteúdo gerado por IA pode estar incorreto.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" t="0" r="-3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0" y="0"/>
            <a:ext cx="1028700" cy="10287000"/>
            <a:chOff x="0" y="0"/>
            <a:chExt cx="270933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E355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70933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0"/>
                </a:lnSpc>
              </a:p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966848" y="1100000"/>
            <a:ext cx="13530452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0A0A0A"/>
                </a:solidFill>
                <a:latin typeface="Neue Machina Ultra-Bold"/>
              </a:defRPr>
            </a:pPr>
            <a:r>
              <a:rPr>
                <a:solidFill>
                  <a:srgbClr val="FFFFFF"/>
                </a:solidFill>
              </a:rPr>
              <a:t>Mão na Massa: Live Demo no Hoppscotch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000" y="2400000"/>
            <a:ext cx="12500000" cy="6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Demonstração ao Vivo no E-commerce TechMarket:</a:t>
            </a:r>
          </a:p>
          <a:p>
            <a:pPr>
              <a:defRPr sz="1400" b="0">
                <a:solidFill>
                  <a:srgbClr val="000000"/>
                </a:solidFill>
                <a:latin typeface="Glacial Indifference"/>
              </a:defRPr>
            </a:pPr>
          </a:p>
          <a:p>
            <a:pPr>
              <a:defRPr sz="2600" b="1">
                <a:solidFill>
                  <a:srgbClr val="141414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• Como acompanhar no seu celular ou notebook:</a:t>
            </a:r>
          </a:p>
          <a:p>
            <a:pPr>
              <a:defRPr sz="2500" b="0">
                <a:solidFill>
                  <a:srgbClr val="282828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  1. Acesse: https://hoppscotch.io</a:t>
            </a:r>
          </a:p>
          <a:p>
            <a:pPr>
              <a:defRPr sz="2500" b="0">
                <a:solidFill>
                  <a:srgbClr val="282828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  2. Cole a coleção oficial via Gist:</a:t>
            </a:r>
          </a:p>
          <a:p>
            <a:pPr>
              <a:defRPr sz="2400" b="1">
                <a:solidFill>
                  <a:srgbClr val="0066CC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     https://gist.github.com/cavalcanteJr/07f2097d8fec43894afc9cc806b5a764</a:t>
            </a:r>
          </a:p>
          <a:p>
            <a:pPr>
              <a:defRPr sz="2500" b="0">
                <a:solidFill>
                  <a:srgbClr val="282828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  3. Na API V1: Observe a aprovação indevida e a alteração de preço do rival.</a:t>
            </a:r>
          </a:p>
          <a:p>
            <a:pPr>
              <a:defRPr sz="2500" b="0">
                <a:solidFill>
                  <a:srgbClr val="282828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  4. Na API V2: Veja a blindagem com 401 Unauthorized e 403 Forbidden!</a:t>
            </a:r>
          </a:p>
          <a:p>
            <a:pPr>
              <a:defRPr sz="2500" b="0">
                <a:solidFill>
                  <a:srgbClr val="282828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  5. Encontrou um bug? Reporte pelo botão flutuante para aparecer no telão ao vivo!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 descr="Diagrama, Desenho técnico  O conteúdo gerado por IA pode estar incorreto.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" t="0" r="-3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0" y="0"/>
            <a:ext cx="1028700" cy="10287000"/>
            <a:chOff x="0" y="0"/>
            <a:chExt cx="270933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E355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70933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0"/>
                </a:lnSpc>
              </a:p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966848" y="1100000"/>
            <a:ext cx="13530452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0A0A0A"/>
                </a:solidFill>
                <a:latin typeface="Neue Machina Ultra-Bold"/>
              </a:defRPr>
            </a:pPr>
            <a:r>
              <a:rPr>
                <a:solidFill>
                  <a:srgbClr val="FFFFFF"/>
                </a:solidFill>
              </a:rPr>
              <a:t>Considerações Finais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000" y="2400000"/>
            <a:ext cx="12500000" cy="6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3 Lições Fundamentais para a sua Carreira:</a:t>
            </a:r>
          </a:p>
          <a:p>
            <a:pPr>
              <a:defRPr sz="1400" b="0">
                <a:solidFill>
                  <a:srgbClr val="000000"/>
                </a:solidFill>
                <a:latin typeface="Glacial Indifference"/>
              </a:defRPr>
            </a:pPr>
          </a:p>
          <a:p>
            <a:pPr>
              <a:defRPr sz="2600" b="1">
                <a:solidFill>
                  <a:srgbClr val="141414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1. Autenticação ≠ Autorização:</a:t>
            </a:r>
          </a:p>
          <a:p>
            <a:pPr>
              <a:defRPr sz="2400" b="0">
                <a:solidFill>
                  <a:srgbClr val="323232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   - Autenticação identifica QUEM é o usuário. Autorização define O QUE ele pode fazer.</a:t>
            </a:r>
          </a:p>
          <a:p>
            <a:pPr>
              <a:defRPr sz="2600" b="1">
                <a:solidFill>
                  <a:srgbClr val="141414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2. No Banco de Dados, valide a propriedade SEMPRE:</a:t>
            </a:r>
          </a:p>
          <a:p>
            <a:pPr>
              <a:defRPr sz="2400" b="0">
                <a:solidFill>
                  <a:srgbClr val="323232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   - Nunca execute queries usando apenas o ID vindo do cliente. Amarre com o usuário logado.</a:t>
            </a:r>
          </a:p>
          <a:p>
            <a:pPr>
              <a:defRPr sz="2600" b="1">
                <a:solidFill>
                  <a:srgbClr val="141414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3. Qualidade e Segurança andam juntas:</a:t>
            </a:r>
          </a:p>
          <a:p>
            <a:pPr>
              <a:defRPr sz="2400" b="0">
                <a:solidFill>
                  <a:srgbClr val="323232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   - Segurança de API não é assunto só de pentest: começa no design do contrato e nos testes do QA.</a:t>
            </a:r>
          </a:p>
          <a:p>
            <a:pPr>
              <a:defRPr sz="1400" b="0">
                <a:solidFill>
                  <a:srgbClr val="000000"/>
                </a:solidFill>
                <a:latin typeface="Glacial Indifference"/>
              </a:defRPr>
            </a:pPr>
          </a:p>
          <a:p>
            <a:pPr>
              <a:defRPr sz="2600" b="1">
                <a:solidFill>
                  <a:srgbClr val="C84600"/>
                </a:solidFill>
                <a:latin typeface="Glacial Indifference"/>
              </a:defRPr>
            </a:pPr>
            <a:r>
              <a:rPr>
                <a:solidFill>
                  <a:srgbClr val="FFFFFF"/>
                </a:solidFill>
              </a:rPr>
              <a:t>Obrigado a todos! Perguntas &amp; Discussão aberta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DAG1PuxMC70</dc:identifier>
  <dcterms:modified xsi:type="dcterms:W3CDTF">2011-08-01T06:04:30Z</dcterms:modified>
  <cp:revision>1</cp:revision>
  <dc:title>Orange Gradient Portfolio Design Presentation</dc:title>
</cp:coreProperties>
</file>